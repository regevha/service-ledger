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347472"/>
          </a:xfrm>
          <a:prstGeom prst="rect">
            <a:avLst/>
          </a:prstGeom>
          <a:solidFill>
            <a:srgbClr val="122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1097280"/>
            <a:ext cx="10972800" cy="1005840"/>
          </a:xfrm>
          <a:prstGeom prst="rect">
            <a:avLst/>
          </a:prstGeom>
          <a:noFill/>
        </p:spPr>
        <p:txBody>
          <a:bodyPr wrap="none">
            <a:spAutoFit/>
          </a:bodyPr>
          <a:lstStyle/>
          <a:p>
            <a:r>
              <a:rPr sz="3000" b="1">
                <a:solidFill>
                  <a:srgbClr val="12284C"/>
                </a:solidFill>
              </a:rPr>
              <a:t>ServiceLedger Azure Architecture</a:t>
            </a:r>
          </a:p>
        </p:txBody>
      </p:sp>
      <p:sp>
        <p:nvSpPr>
          <p:cNvPr id="4" name="TextBox 3"/>
          <p:cNvSpPr txBox="1"/>
          <p:nvPr/>
        </p:nvSpPr>
        <p:spPr>
          <a:xfrm>
            <a:off x="685800" y="1920240"/>
            <a:ext cx="9144000" cy="640080"/>
          </a:xfrm>
          <a:prstGeom prst="rect">
            <a:avLst/>
          </a:prstGeom>
          <a:noFill/>
        </p:spPr>
        <p:txBody>
          <a:bodyPr wrap="none">
            <a:spAutoFit/>
          </a:bodyPr>
          <a:lstStyle/>
          <a:p>
            <a:r>
              <a:rPr sz="1800">
                <a:solidFill>
                  <a:srgbClr val="6F7A85"/>
                </a:solidFill>
              </a:rPr>
              <a:t>Deployment, runtime, and operating model</a:t>
            </a:r>
          </a:p>
        </p:txBody>
      </p:sp>
      <p:sp>
        <p:nvSpPr>
          <p:cNvPr id="5" name="Rounded Rectangle 4"/>
          <p:cNvSpPr/>
          <p:nvPr/>
        </p:nvSpPr>
        <p:spPr>
          <a:xfrm>
            <a:off x="731520" y="2926080"/>
            <a:ext cx="2011680" cy="1097280"/>
          </a:xfrm>
          <a:prstGeom prst="roundRect">
            <a:avLst>
              <a:gd name="adj" fmla="val 20000"/>
            </a:avLst>
          </a:prstGeom>
          <a:solidFill>
            <a:srgbClr val="1E88A8"/>
          </a:solidFill>
          <a:ln w="1">
            <a:solidFill>
              <a:srgbClr val="1E88A8"/>
            </a:solid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2000" b="1">
                <a:solidFill>
                  <a:srgbClr val="FFFFFF"/>
                </a:solidFill>
              </a:rPr>
              <a:t>API</a:t>
            </a:r>
            <a:br/>
            <a:r>
              <a:t>App</a:t>
            </a:r>
          </a:p>
        </p:txBody>
      </p:sp>
      <p:sp>
        <p:nvSpPr>
          <p:cNvPr id="6" name="Rounded Rectangle 5"/>
          <p:cNvSpPr/>
          <p:nvPr/>
        </p:nvSpPr>
        <p:spPr>
          <a:xfrm>
            <a:off x="3017520" y="2926080"/>
            <a:ext cx="2194560" cy="1097280"/>
          </a:xfrm>
          <a:prstGeom prst="roundRect">
            <a:avLst>
              <a:gd name="adj" fmla="val 20000"/>
            </a:avLst>
          </a:prstGeom>
          <a:solidFill>
            <a:srgbClr val="1E88A8"/>
          </a:solidFill>
          <a:ln w="1">
            <a:solidFill>
              <a:srgbClr val="1E88A8"/>
            </a:solid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2000" b="1">
                <a:solidFill>
                  <a:srgbClr val="FFFFFF"/>
                </a:solidFill>
              </a:rPr>
              <a:t>Worker</a:t>
            </a:r>
            <a:br/>
            <a:r>
              <a:t>App</a:t>
            </a:r>
          </a:p>
        </p:txBody>
      </p:sp>
      <p:sp>
        <p:nvSpPr>
          <p:cNvPr id="7" name="Rounded Rectangle 6"/>
          <p:cNvSpPr/>
          <p:nvPr/>
        </p:nvSpPr>
        <p:spPr>
          <a:xfrm>
            <a:off x="5486400" y="2926080"/>
            <a:ext cx="2651760" cy="1097280"/>
          </a:xfrm>
          <a:prstGeom prst="roundRect">
            <a:avLst>
              <a:gd name="adj" fmla="val 20000"/>
            </a:avLst>
          </a:prstGeom>
          <a:solidFill>
            <a:srgbClr val="107C4F"/>
          </a:solidFill>
          <a:ln w="1">
            <a:solidFill>
              <a:srgbClr val="107C4F"/>
            </a:solid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2000" b="1">
                <a:solidFill>
                  <a:srgbClr val="FFFFFF"/>
                </a:solidFill>
              </a:rPr>
              <a:t>PostgreSQL</a:t>
            </a:r>
            <a:br/>
            <a:r>
              <a:t>Database</a:t>
            </a:r>
          </a:p>
        </p:txBody>
      </p:sp>
      <p:sp>
        <p:nvSpPr>
          <p:cNvPr id="8" name="Rounded Rectangle 7"/>
          <p:cNvSpPr/>
          <p:nvPr/>
        </p:nvSpPr>
        <p:spPr>
          <a:xfrm>
            <a:off x="8503920" y="2926080"/>
            <a:ext cx="2560320" cy="1097280"/>
          </a:xfrm>
          <a:prstGeom prst="roundRect">
            <a:avLst>
              <a:gd name="adj" fmla="val 20000"/>
            </a:avLst>
          </a:prstGeom>
          <a:solidFill>
            <a:srgbClr val="12284C"/>
          </a:solidFill>
          <a:ln w="1">
            <a:solidFill>
              <a:srgbClr val="12284C"/>
            </a:solid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2000" b="1">
                <a:solidFill>
                  <a:srgbClr val="FFFFFF"/>
                </a:solidFill>
              </a:rPr>
              <a:t>Azure Files</a:t>
            </a:r>
            <a:br/>
            <a:r>
              <a:t>Storage</a:t>
            </a:r>
          </a:p>
        </p:txBody>
      </p:sp>
      <p:sp>
        <p:nvSpPr>
          <p:cNvPr id="9" name="TextBox 8"/>
          <p:cNvSpPr txBox="1"/>
          <p:nvPr/>
        </p:nvSpPr>
        <p:spPr>
          <a:xfrm>
            <a:off x="731520" y="4572000"/>
            <a:ext cx="10607040" cy="1005840"/>
          </a:xfrm>
          <a:prstGeom prst="rect">
            <a:avLst/>
          </a:prstGeom>
          <a:noFill/>
        </p:spPr>
        <p:txBody>
          <a:bodyPr wrap="square">
            <a:spAutoFit/>
          </a:bodyPr>
          <a:lstStyle/>
          <a:p>
            <a:pPr algn="l"/>
            <a:r>
              <a:rPr sz="1800" b="0">
                <a:solidFill>
                  <a:srgbClr val="212529"/>
                </a:solidFill>
              </a:rPr>
              <a:t>Built for a small test environment: simple deployment, shared storage, simple security, and straightforward operations.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640080"/>
          </a:xfrm>
          <a:prstGeom prst="rect">
            <a:avLst/>
          </a:prstGeom>
          <a:noFill/>
        </p:spPr>
        <p:txBody>
          <a:bodyPr wrap="none">
            <a:spAutoFit/>
          </a:bodyPr>
          <a:lstStyle/>
          <a:p>
            <a:pPr algn="l"/>
            <a:r>
              <a:rPr sz="2800" b="1">
                <a:solidFill>
                  <a:srgbClr val="12284C"/>
                </a:solidFill>
              </a:rPr>
              <a:t>System Overview</a:t>
            </a:r>
          </a:p>
        </p:txBody>
      </p:sp>
      <p:sp>
        <p:nvSpPr>
          <p:cNvPr id="3" name="TextBox 2"/>
          <p:cNvSpPr txBox="1"/>
          <p:nvPr/>
        </p:nvSpPr>
        <p:spPr>
          <a:xfrm>
            <a:off x="548640" y="868680"/>
            <a:ext cx="9326880" cy="411480"/>
          </a:xfrm>
          <a:prstGeom prst="rect">
            <a:avLst/>
          </a:prstGeom>
          <a:noFill/>
        </p:spPr>
        <p:txBody>
          <a:bodyPr wrap="none">
            <a:spAutoFit/>
          </a:bodyPr>
          <a:lstStyle/>
          <a:p>
            <a:pPr algn="l"/>
            <a:r>
              <a:rPr sz="1200">
                <a:solidFill>
                  <a:srgbClr val="6F7A85"/>
                </a:solidFill>
              </a:rPr>
              <a:t>A simple Azure-hosted application runtime</a:t>
            </a:r>
          </a:p>
        </p:txBody>
      </p:sp>
      <p:sp>
        <p:nvSpPr>
          <p:cNvPr id="4" name="Rounded Rectangle 3"/>
          <p:cNvSpPr/>
          <p:nvPr/>
        </p:nvSpPr>
        <p:spPr>
          <a:xfrm>
            <a:off x="822960" y="1645920"/>
            <a:ext cx="1645920" cy="914400"/>
          </a:xfrm>
          <a:prstGeom prst="roundRect">
            <a:avLst>
              <a:gd name="adj" fmla="val 20000"/>
            </a:avLst>
          </a:prstGeom>
          <a:solidFill>
            <a:srgbClr val="12284C"/>
          </a:solidFill>
          <a:ln w="1">
            <a:solidFill>
              <a:srgbClr val="12284C"/>
            </a:solid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800" b="1">
                <a:solidFill>
                  <a:srgbClr val="FFFFFF"/>
                </a:solidFill>
              </a:rPr>
              <a:t>Users</a:t>
            </a:r>
          </a:p>
        </p:txBody>
      </p:sp>
      <p:sp>
        <p:nvSpPr>
          <p:cNvPr id="5" name="Rounded Rectangle 4"/>
          <p:cNvSpPr/>
          <p:nvPr/>
        </p:nvSpPr>
        <p:spPr>
          <a:xfrm>
            <a:off x="2834640" y="1463040"/>
            <a:ext cx="2194560" cy="1280160"/>
          </a:xfrm>
          <a:prstGeom prst="roundRect">
            <a:avLst>
              <a:gd name="adj" fmla="val 20000"/>
            </a:avLst>
          </a:prstGeom>
          <a:solidFill>
            <a:srgbClr val="1E88A8"/>
          </a:solidFill>
          <a:ln w="1">
            <a:solidFill>
              <a:srgbClr val="1E88A8"/>
            </a:solid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800" b="1">
                <a:solidFill>
                  <a:srgbClr val="FFFFFF"/>
                </a:solidFill>
              </a:rPr>
              <a:t>API App</a:t>
            </a:r>
            <a:br/>
            <a:r>
              <a:t>uvicorn app.main:app</a:t>
            </a:r>
          </a:p>
        </p:txBody>
      </p:sp>
      <p:sp>
        <p:nvSpPr>
          <p:cNvPr id="6" name="Rounded Rectangle 5"/>
          <p:cNvSpPr/>
          <p:nvPr/>
        </p:nvSpPr>
        <p:spPr>
          <a:xfrm>
            <a:off x="5669280" y="1371600"/>
            <a:ext cx="2103120" cy="1371600"/>
          </a:xfrm>
          <a:prstGeom prst="roundRect">
            <a:avLst>
              <a:gd name="adj" fmla="val 20000"/>
            </a:avLst>
          </a:prstGeom>
          <a:solidFill>
            <a:srgbClr val="107C4F"/>
          </a:solidFill>
          <a:ln w="1">
            <a:solidFill>
              <a:srgbClr val="107C4F"/>
            </a:solid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700" b="1">
                <a:solidFill>
                  <a:srgbClr val="FFFFFF"/>
                </a:solidFill>
              </a:rPr>
              <a:t>PostgreSQL</a:t>
            </a:r>
            <a:br/>
            <a:r>
              <a:t>service_ledger</a:t>
            </a:r>
          </a:p>
        </p:txBody>
      </p:sp>
      <p:sp>
        <p:nvSpPr>
          <p:cNvPr id="7" name="Rounded Rectangle 6"/>
          <p:cNvSpPr/>
          <p:nvPr/>
        </p:nvSpPr>
        <p:spPr>
          <a:xfrm>
            <a:off x="8412480" y="1371600"/>
            <a:ext cx="2377440" cy="1371600"/>
          </a:xfrm>
          <a:prstGeom prst="roundRect">
            <a:avLst>
              <a:gd name="adj" fmla="val 20000"/>
            </a:avLst>
          </a:prstGeom>
          <a:solidFill>
            <a:srgbClr val="12284C"/>
          </a:solidFill>
          <a:ln w="1">
            <a:solidFill>
              <a:srgbClr val="12284C"/>
            </a:solid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700" b="1">
                <a:solidFill>
                  <a:srgbClr val="FFFFFF"/>
                </a:solidFill>
              </a:rPr>
              <a:t>Azure Files</a:t>
            </a:r>
            <a:br/>
            <a:r>
              <a:t>/data/attachments</a:t>
            </a:r>
          </a:p>
        </p:txBody>
      </p:sp>
      <p:sp>
        <p:nvSpPr>
          <p:cNvPr id="8" name="Rounded Rectangle 7"/>
          <p:cNvSpPr/>
          <p:nvPr/>
        </p:nvSpPr>
        <p:spPr>
          <a:xfrm>
            <a:off x="2834640" y="3657600"/>
            <a:ext cx="2377440" cy="1188720"/>
          </a:xfrm>
          <a:prstGeom prst="roundRect">
            <a:avLst>
              <a:gd name="adj" fmla="val 20000"/>
            </a:avLst>
          </a:prstGeom>
          <a:solidFill>
            <a:srgbClr val="F59E0B"/>
          </a:solidFill>
          <a:ln w="1">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700" b="1">
                <a:solidFill>
                  <a:srgbClr val="FFFFFF"/>
                </a:solidFill>
              </a:rPr>
              <a:t>Worker App</a:t>
            </a:r>
            <a:br/>
            <a:r>
              <a:t>python -m app.worker</a:t>
            </a:r>
          </a:p>
        </p:txBody>
      </p:sp>
      <p:sp>
        <p:nvSpPr>
          <p:cNvPr id="9" name="Rounded Rectangle 8"/>
          <p:cNvSpPr/>
          <p:nvPr/>
        </p:nvSpPr>
        <p:spPr>
          <a:xfrm>
            <a:off x="5760720" y="3657600"/>
            <a:ext cx="2468880" cy="1188720"/>
          </a:xfrm>
          <a:prstGeom prst="roundRect">
            <a:avLst>
              <a:gd name="adj" fmla="val 20000"/>
            </a:avLst>
          </a:prstGeom>
          <a:solidFill>
            <a:srgbClr val="B32D2D"/>
          </a:solidFill>
          <a:ln w="1">
            <a:solidFill>
              <a:srgbClr val="B32D2D"/>
            </a:solid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700" b="1">
                <a:solidFill>
                  <a:srgbClr val="FFFFFF"/>
                </a:solidFill>
              </a:rPr>
              <a:t>Claude / AI API</a:t>
            </a:r>
          </a:p>
        </p:txBody>
      </p:sp>
      <p:cxnSp>
        <p:nvCxnSpPr>
          <p:cNvPr id="10" name="Connector 9"/>
          <p:cNvCxnSpPr/>
          <p:nvPr/>
        </p:nvCxnSpPr>
        <p:spPr>
          <a:xfrm>
            <a:off x="2468880" y="1920240"/>
            <a:ext cx="365760" cy="0"/>
          </a:xfrm>
          <a:prstGeom prst="line">
            <a:avLst/>
          </a:prstGeom>
          <a:ln w="2">
            <a:solidFill>
              <a:srgbClr val="6F7A85"/>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5029200" y="1920240"/>
            <a:ext cx="640080" cy="0"/>
          </a:xfrm>
          <a:prstGeom prst="line">
            <a:avLst/>
          </a:prstGeom>
          <a:ln w="2">
            <a:solidFill>
              <a:srgbClr val="6F7A85"/>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772400" y="1920240"/>
            <a:ext cx="640080" cy="0"/>
          </a:xfrm>
          <a:prstGeom prst="line">
            <a:avLst/>
          </a:prstGeom>
          <a:ln w="2">
            <a:solidFill>
              <a:srgbClr val="6F7A85"/>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4023360" y="2743200"/>
            <a:ext cx="0" cy="914400"/>
          </a:xfrm>
          <a:prstGeom prst="line">
            <a:avLst/>
          </a:prstGeom>
          <a:ln w="2">
            <a:solidFill>
              <a:srgbClr val="6F7A85"/>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5212080" y="4206240"/>
            <a:ext cx="548640" cy="0"/>
          </a:xfrm>
          <a:prstGeom prst="line">
            <a:avLst/>
          </a:prstGeom>
          <a:ln w="2">
            <a:solidFill>
              <a:srgbClr val="6F7A85"/>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822960" y="5212080"/>
            <a:ext cx="10698480" cy="640080"/>
          </a:xfrm>
          <a:prstGeom prst="rect">
            <a:avLst/>
          </a:prstGeom>
          <a:noFill/>
        </p:spPr>
        <p:txBody>
          <a:bodyPr wrap="square">
            <a:spAutoFit/>
          </a:bodyPr>
          <a:lstStyle/>
          <a:p>
            <a:pPr algn="l"/>
            <a:r>
              <a:rPr sz="1600" b="0">
                <a:solidFill>
                  <a:srgbClr val="212529"/>
                </a:solidFill>
              </a:rPr>
              <a:t>The API serves the application; the worker processes asynchronous work and model calls; both share the same data and file layer.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640080"/>
          </a:xfrm>
          <a:prstGeom prst="rect">
            <a:avLst/>
          </a:prstGeom>
          <a:noFill/>
        </p:spPr>
        <p:txBody>
          <a:bodyPr wrap="none">
            <a:spAutoFit/>
          </a:bodyPr>
          <a:lstStyle/>
          <a:p>
            <a:pPr algn="l"/>
            <a:r>
              <a:rPr sz="2800" b="1">
                <a:solidFill>
                  <a:srgbClr val="12284C"/>
                </a:solidFill>
              </a:rPr>
              <a:t>Azure Deployment Model</a:t>
            </a:r>
          </a:p>
        </p:txBody>
      </p:sp>
      <p:sp>
        <p:nvSpPr>
          <p:cNvPr id="3" name="TextBox 2"/>
          <p:cNvSpPr txBox="1"/>
          <p:nvPr/>
        </p:nvSpPr>
        <p:spPr>
          <a:xfrm>
            <a:off x="548640" y="868680"/>
            <a:ext cx="9326880" cy="411480"/>
          </a:xfrm>
          <a:prstGeom prst="rect">
            <a:avLst/>
          </a:prstGeom>
          <a:noFill/>
        </p:spPr>
        <p:txBody>
          <a:bodyPr wrap="none">
            <a:spAutoFit/>
          </a:bodyPr>
          <a:lstStyle/>
          <a:p>
            <a:pPr algn="l"/>
            <a:r>
              <a:rPr sz="1200">
                <a:solidFill>
                  <a:srgbClr val="6F7A85"/>
                </a:solidFill>
              </a:rPr>
              <a:t>One resource group, multiple Azure services</a:t>
            </a:r>
          </a:p>
        </p:txBody>
      </p:sp>
      <p:sp>
        <p:nvSpPr>
          <p:cNvPr id="4" name="Rounded Rectangle 3"/>
          <p:cNvSpPr/>
          <p:nvPr/>
        </p:nvSpPr>
        <p:spPr>
          <a:xfrm>
            <a:off x="731520" y="1645920"/>
            <a:ext cx="2011680" cy="914400"/>
          </a:xfrm>
          <a:prstGeom prst="roundRect">
            <a:avLst>
              <a:gd name="adj" fmla="val 20000"/>
            </a:avLst>
          </a:prstGeom>
          <a:solidFill>
            <a:srgbClr val="12284C"/>
          </a:solidFill>
          <a:ln w="1">
            <a:solidFill>
              <a:srgbClr val="12284C"/>
            </a:solid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800" b="1">
                <a:solidFill>
                  <a:srgbClr val="FFFFFF"/>
                </a:solidFill>
              </a:rPr>
              <a:t>Resource Group</a:t>
            </a:r>
          </a:p>
        </p:txBody>
      </p:sp>
      <p:sp>
        <p:nvSpPr>
          <p:cNvPr id="5" name="Rounded Rectangle 4"/>
          <p:cNvSpPr/>
          <p:nvPr/>
        </p:nvSpPr>
        <p:spPr>
          <a:xfrm>
            <a:off x="3017520" y="1463040"/>
            <a:ext cx="1828800" cy="1097280"/>
          </a:xfrm>
          <a:prstGeom prst="roundRect">
            <a:avLst>
              <a:gd name="adj" fmla="val 20000"/>
            </a:avLst>
          </a:prstGeom>
          <a:solidFill>
            <a:srgbClr val="1E88A8"/>
          </a:solidFill>
          <a:ln w="1">
            <a:solidFill>
              <a:srgbClr val="1E88A8"/>
            </a:solid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600" b="1">
                <a:solidFill>
                  <a:srgbClr val="FFFFFF"/>
                </a:solidFill>
              </a:rPr>
              <a:t>Container Registry</a:t>
            </a:r>
          </a:p>
        </p:txBody>
      </p:sp>
      <p:sp>
        <p:nvSpPr>
          <p:cNvPr id="6" name="Rounded Rectangle 5"/>
          <p:cNvSpPr/>
          <p:nvPr/>
        </p:nvSpPr>
        <p:spPr>
          <a:xfrm>
            <a:off x="5212080" y="1463040"/>
            <a:ext cx="2011680" cy="1097280"/>
          </a:xfrm>
          <a:prstGeom prst="roundRect">
            <a:avLst>
              <a:gd name="adj" fmla="val 20000"/>
            </a:avLst>
          </a:prstGeom>
          <a:solidFill>
            <a:srgbClr val="1E88A8"/>
          </a:solidFill>
          <a:ln w="1">
            <a:solidFill>
              <a:srgbClr val="1E88A8"/>
            </a:solid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500" b="1">
                <a:solidFill>
                  <a:srgbClr val="FFFFFF"/>
                </a:solidFill>
              </a:rPr>
              <a:t>Container Apps Environment</a:t>
            </a:r>
          </a:p>
        </p:txBody>
      </p:sp>
      <p:sp>
        <p:nvSpPr>
          <p:cNvPr id="7" name="Rounded Rectangle 6"/>
          <p:cNvSpPr/>
          <p:nvPr/>
        </p:nvSpPr>
        <p:spPr>
          <a:xfrm>
            <a:off x="7589520" y="1463040"/>
            <a:ext cx="1920240" cy="1097280"/>
          </a:xfrm>
          <a:prstGeom prst="roundRect">
            <a:avLst>
              <a:gd name="adj" fmla="val 20000"/>
            </a:avLst>
          </a:prstGeom>
          <a:solidFill>
            <a:srgbClr val="6F7A85"/>
          </a:solidFill>
          <a:ln w="1">
            <a:solidFill>
              <a:srgbClr val="6F7A85"/>
            </a:solid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600" b="1">
                <a:solidFill>
                  <a:srgbClr val="FFFFFF"/>
                </a:solidFill>
              </a:rPr>
              <a:t>Log Analytics</a:t>
            </a:r>
          </a:p>
        </p:txBody>
      </p:sp>
      <p:sp>
        <p:nvSpPr>
          <p:cNvPr id="8" name="Rounded Rectangle 7"/>
          <p:cNvSpPr/>
          <p:nvPr/>
        </p:nvSpPr>
        <p:spPr>
          <a:xfrm>
            <a:off x="9875520" y="1463040"/>
            <a:ext cx="1645920" cy="1097280"/>
          </a:xfrm>
          <a:prstGeom prst="roundRect">
            <a:avLst>
              <a:gd name="adj" fmla="val 20000"/>
            </a:avLst>
          </a:prstGeom>
          <a:solidFill>
            <a:srgbClr val="107C4F"/>
          </a:solidFill>
          <a:ln w="1">
            <a:solidFill>
              <a:srgbClr val="107C4F"/>
            </a:solid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600" b="1">
                <a:solidFill>
                  <a:srgbClr val="FFFFFF"/>
                </a:solidFill>
              </a:rPr>
              <a:t>Secrets</a:t>
            </a:r>
          </a:p>
        </p:txBody>
      </p:sp>
      <p:sp>
        <p:nvSpPr>
          <p:cNvPr id="9" name="Rounded Rectangle 8"/>
          <p:cNvSpPr/>
          <p:nvPr/>
        </p:nvSpPr>
        <p:spPr>
          <a:xfrm>
            <a:off x="2743200" y="3291840"/>
            <a:ext cx="2286000" cy="1005840"/>
          </a:xfrm>
          <a:prstGeom prst="roundRect">
            <a:avLst>
              <a:gd name="adj" fmla="val 20000"/>
            </a:avLst>
          </a:prstGeom>
          <a:solidFill>
            <a:srgbClr val="1E88A8"/>
          </a:solidFill>
          <a:ln w="1">
            <a:solidFill>
              <a:srgbClr val="1E88A8"/>
            </a:solid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700" b="1">
                <a:solidFill>
                  <a:srgbClr val="FFFFFF"/>
                </a:solidFill>
              </a:rPr>
              <a:t>API App</a:t>
            </a:r>
          </a:p>
        </p:txBody>
      </p:sp>
      <p:sp>
        <p:nvSpPr>
          <p:cNvPr id="10" name="Rounded Rectangle 9"/>
          <p:cNvSpPr/>
          <p:nvPr/>
        </p:nvSpPr>
        <p:spPr>
          <a:xfrm>
            <a:off x="5303520" y="3291840"/>
            <a:ext cx="2560320" cy="1005840"/>
          </a:xfrm>
          <a:prstGeom prst="roundRect">
            <a:avLst>
              <a:gd name="adj" fmla="val 20000"/>
            </a:avLst>
          </a:prstGeom>
          <a:solidFill>
            <a:srgbClr val="F59E0B"/>
          </a:solidFill>
          <a:ln w="1">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700" b="1">
                <a:solidFill>
                  <a:srgbClr val="FFFFFF"/>
                </a:solidFill>
              </a:rPr>
              <a:t>Worker App</a:t>
            </a:r>
          </a:p>
        </p:txBody>
      </p:sp>
      <p:sp>
        <p:nvSpPr>
          <p:cNvPr id="11" name="Rounded Rectangle 10"/>
          <p:cNvSpPr/>
          <p:nvPr/>
        </p:nvSpPr>
        <p:spPr>
          <a:xfrm>
            <a:off x="8138160" y="3291840"/>
            <a:ext cx="2194560" cy="1005840"/>
          </a:xfrm>
          <a:prstGeom prst="roundRect">
            <a:avLst>
              <a:gd name="adj" fmla="val 20000"/>
            </a:avLst>
          </a:prstGeom>
          <a:solidFill>
            <a:srgbClr val="12284C"/>
          </a:solidFill>
          <a:ln w="1">
            <a:solidFill>
              <a:srgbClr val="12284C"/>
            </a:solid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600" b="1">
                <a:solidFill>
                  <a:srgbClr val="FFFFFF"/>
                </a:solidFill>
              </a:rPr>
              <a:t>Migration Job</a:t>
            </a:r>
          </a:p>
        </p:txBody>
      </p:sp>
      <p:sp>
        <p:nvSpPr>
          <p:cNvPr id="12" name="Rounded Rectangle 11"/>
          <p:cNvSpPr/>
          <p:nvPr/>
        </p:nvSpPr>
        <p:spPr>
          <a:xfrm>
            <a:off x="3749039" y="4846320"/>
            <a:ext cx="2286000" cy="1005840"/>
          </a:xfrm>
          <a:prstGeom prst="roundRect">
            <a:avLst>
              <a:gd name="adj" fmla="val 20000"/>
            </a:avLst>
          </a:prstGeom>
          <a:solidFill>
            <a:srgbClr val="107C4F"/>
          </a:solidFill>
          <a:ln w="1">
            <a:solidFill>
              <a:srgbClr val="107C4F"/>
            </a:solid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700" b="1">
                <a:solidFill>
                  <a:srgbClr val="FFFFFF"/>
                </a:solidFill>
              </a:rPr>
              <a:t>PostgreSQL</a:t>
            </a:r>
          </a:p>
        </p:txBody>
      </p:sp>
      <p:sp>
        <p:nvSpPr>
          <p:cNvPr id="13" name="Rounded Rectangle 12"/>
          <p:cNvSpPr/>
          <p:nvPr/>
        </p:nvSpPr>
        <p:spPr>
          <a:xfrm>
            <a:off x="6400800" y="4846320"/>
            <a:ext cx="2377440" cy="1005840"/>
          </a:xfrm>
          <a:prstGeom prst="roundRect">
            <a:avLst>
              <a:gd name="adj" fmla="val 20000"/>
            </a:avLst>
          </a:prstGeom>
          <a:solidFill>
            <a:srgbClr val="12284C"/>
          </a:solidFill>
          <a:ln w="1">
            <a:solidFill>
              <a:srgbClr val="12284C"/>
            </a:solid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700" b="1">
                <a:solidFill>
                  <a:srgbClr val="FFFFFF"/>
                </a:solidFill>
              </a:rPr>
              <a:t>Azure Files</a:t>
            </a:r>
          </a:p>
        </p:txBody>
      </p:sp>
      <p:sp>
        <p:nvSpPr>
          <p:cNvPr id="14" name="TextBox 13"/>
          <p:cNvSpPr txBox="1"/>
          <p:nvPr/>
        </p:nvSpPr>
        <p:spPr>
          <a:xfrm>
            <a:off x="731520" y="6126480"/>
            <a:ext cx="10789920" cy="457200"/>
          </a:xfrm>
          <a:prstGeom prst="rect">
            <a:avLst/>
          </a:prstGeom>
          <a:noFill/>
        </p:spPr>
        <p:txBody>
          <a:bodyPr wrap="square">
            <a:spAutoFit/>
          </a:bodyPr>
          <a:lstStyle/>
          <a:p>
            <a:pPr algn="l"/>
            <a:r>
              <a:rPr sz="1500" b="0">
                <a:solidFill>
                  <a:srgbClr val="212529"/>
                </a:solidFill>
              </a:rPr>
              <a:t>The deployment uses Azure-native services to keep app hosting, data, and monitoring simple and centralized.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640080"/>
          </a:xfrm>
          <a:prstGeom prst="rect">
            <a:avLst/>
          </a:prstGeom>
          <a:noFill/>
        </p:spPr>
        <p:txBody>
          <a:bodyPr wrap="none">
            <a:spAutoFit/>
          </a:bodyPr>
          <a:lstStyle/>
          <a:p>
            <a:pPr algn="l"/>
            <a:r>
              <a:rPr sz="2800" b="1">
                <a:solidFill>
                  <a:srgbClr val="12284C"/>
                </a:solidFill>
              </a:rPr>
              <a:t>Runtime Request and Processing Flow</a:t>
            </a:r>
          </a:p>
        </p:txBody>
      </p:sp>
      <p:sp>
        <p:nvSpPr>
          <p:cNvPr id="3" name="TextBox 2"/>
          <p:cNvSpPr txBox="1"/>
          <p:nvPr/>
        </p:nvSpPr>
        <p:spPr>
          <a:xfrm>
            <a:off x="548640" y="868680"/>
            <a:ext cx="9326880" cy="411480"/>
          </a:xfrm>
          <a:prstGeom prst="rect">
            <a:avLst/>
          </a:prstGeom>
          <a:noFill/>
        </p:spPr>
        <p:txBody>
          <a:bodyPr wrap="none">
            <a:spAutoFit/>
          </a:bodyPr>
          <a:lstStyle/>
          <a:p>
            <a:pPr algn="l"/>
            <a:r>
              <a:rPr sz="1200">
                <a:solidFill>
                  <a:srgbClr val="6F7A85"/>
                </a:solidFill>
              </a:rPr>
              <a:t>User requests and background work</a:t>
            </a:r>
          </a:p>
        </p:txBody>
      </p:sp>
      <p:sp>
        <p:nvSpPr>
          <p:cNvPr id="4" name="Rounded Rectangle 3"/>
          <p:cNvSpPr/>
          <p:nvPr/>
        </p:nvSpPr>
        <p:spPr>
          <a:xfrm>
            <a:off x="640080" y="1828800"/>
            <a:ext cx="1645920" cy="1005840"/>
          </a:xfrm>
          <a:prstGeom prst="roundRect">
            <a:avLst>
              <a:gd name="adj" fmla="val 20000"/>
            </a:avLst>
          </a:prstGeom>
          <a:solidFill>
            <a:srgbClr val="12284C"/>
          </a:solidFill>
          <a:ln w="1">
            <a:solidFill>
              <a:srgbClr val="12284C"/>
            </a:solid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700" b="1">
                <a:solidFill>
                  <a:srgbClr val="FFFFFF"/>
                </a:solidFill>
              </a:rPr>
              <a:t>User</a:t>
            </a:r>
          </a:p>
        </p:txBody>
      </p:sp>
      <p:sp>
        <p:nvSpPr>
          <p:cNvPr id="5" name="Rounded Rectangle 4"/>
          <p:cNvSpPr/>
          <p:nvPr/>
        </p:nvSpPr>
        <p:spPr>
          <a:xfrm>
            <a:off x="2560320" y="1828800"/>
            <a:ext cx="1828800" cy="1005840"/>
          </a:xfrm>
          <a:prstGeom prst="roundRect">
            <a:avLst>
              <a:gd name="adj" fmla="val 20000"/>
            </a:avLst>
          </a:prstGeom>
          <a:solidFill>
            <a:srgbClr val="1E88A8"/>
          </a:solidFill>
          <a:ln w="1">
            <a:solidFill>
              <a:srgbClr val="1E88A8"/>
            </a:solid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500" b="1">
                <a:solidFill>
                  <a:srgbClr val="FFFFFF"/>
                </a:solidFill>
              </a:rPr>
              <a:t>API checks auth</a:t>
            </a:r>
          </a:p>
        </p:txBody>
      </p:sp>
      <p:sp>
        <p:nvSpPr>
          <p:cNvPr id="6" name="Rounded Rectangle 5"/>
          <p:cNvSpPr/>
          <p:nvPr/>
        </p:nvSpPr>
        <p:spPr>
          <a:xfrm>
            <a:off x="4937760" y="1828800"/>
            <a:ext cx="1828800" cy="1005840"/>
          </a:xfrm>
          <a:prstGeom prst="roundRect">
            <a:avLst>
              <a:gd name="adj" fmla="val 20000"/>
            </a:avLst>
          </a:prstGeom>
          <a:solidFill>
            <a:srgbClr val="107C4F"/>
          </a:solidFill>
          <a:ln w="1">
            <a:solidFill>
              <a:srgbClr val="107C4F"/>
            </a:solid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500" b="1">
                <a:solidFill>
                  <a:srgbClr val="FFFFFF"/>
                </a:solidFill>
              </a:rPr>
              <a:t>PostgreSQL</a:t>
            </a:r>
          </a:p>
        </p:txBody>
      </p:sp>
      <p:sp>
        <p:nvSpPr>
          <p:cNvPr id="7" name="Rounded Rectangle 6"/>
          <p:cNvSpPr/>
          <p:nvPr/>
        </p:nvSpPr>
        <p:spPr>
          <a:xfrm>
            <a:off x="7315200" y="1828800"/>
            <a:ext cx="1828800" cy="1005840"/>
          </a:xfrm>
          <a:prstGeom prst="roundRect">
            <a:avLst>
              <a:gd name="adj" fmla="val 20000"/>
            </a:avLst>
          </a:prstGeom>
          <a:solidFill>
            <a:srgbClr val="12284C"/>
          </a:solidFill>
          <a:ln w="1">
            <a:solidFill>
              <a:srgbClr val="12284C"/>
            </a:solid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500" b="1">
                <a:solidFill>
                  <a:srgbClr val="FFFFFF"/>
                </a:solidFill>
              </a:rPr>
              <a:t>Azure Files</a:t>
            </a:r>
          </a:p>
        </p:txBody>
      </p:sp>
      <p:sp>
        <p:nvSpPr>
          <p:cNvPr id="8" name="Rounded Rectangle 7"/>
          <p:cNvSpPr/>
          <p:nvPr/>
        </p:nvSpPr>
        <p:spPr>
          <a:xfrm>
            <a:off x="9692640" y="1828800"/>
            <a:ext cx="1645920" cy="1005840"/>
          </a:xfrm>
          <a:prstGeom prst="roundRect">
            <a:avLst>
              <a:gd name="adj" fmla="val 20000"/>
            </a:avLst>
          </a:prstGeom>
          <a:solidFill>
            <a:srgbClr val="F59E0B"/>
          </a:solidFill>
          <a:ln w="1">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500" b="1">
                <a:solidFill>
                  <a:srgbClr val="FFFFFF"/>
                </a:solidFill>
              </a:rPr>
              <a:t>Worker</a:t>
            </a:r>
          </a:p>
        </p:txBody>
      </p:sp>
      <p:cxnSp>
        <p:nvCxnSpPr>
          <p:cNvPr id="9" name="Connector 8"/>
          <p:cNvCxnSpPr/>
          <p:nvPr/>
        </p:nvCxnSpPr>
        <p:spPr>
          <a:xfrm>
            <a:off x="2286000" y="2286000"/>
            <a:ext cx="274320" cy="0"/>
          </a:xfrm>
          <a:prstGeom prst="line">
            <a:avLst/>
          </a:prstGeom>
          <a:ln w="2">
            <a:solidFill>
              <a:srgbClr val="6F7A85"/>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389120" y="2286000"/>
            <a:ext cx="548640" cy="0"/>
          </a:xfrm>
          <a:prstGeom prst="line">
            <a:avLst/>
          </a:prstGeom>
          <a:ln w="2">
            <a:solidFill>
              <a:srgbClr val="6F7A85"/>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766560" y="2286000"/>
            <a:ext cx="548640" cy="0"/>
          </a:xfrm>
          <a:prstGeom prst="line">
            <a:avLst/>
          </a:prstGeom>
          <a:ln w="2">
            <a:solidFill>
              <a:srgbClr val="6F7A85"/>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144000" y="2286000"/>
            <a:ext cx="548640" cy="0"/>
          </a:xfrm>
          <a:prstGeom prst="line">
            <a:avLst/>
          </a:prstGeom>
          <a:ln w="2">
            <a:solidFill>
              <a:srgbClr val="6F7A85"/>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3383280" y="3657600"/>
            <a:ext cx="2011680" cy="914400"/>
          </a:xfrm>
          <a:prstGeom prst="roundRect">
            <a:avLst>
              <a:gd name="adj" fmla="val 20000"/>
            </a:avLst>
          </a:prstGeom>
          <a:solidFill>
            <a:srgbClr val="B32D2D"/>
          </a:solidFill>
          <a:ln w="1">
            <a:solidFill>
              <a:srgbClr val="B32D2D"/>
            </a:solid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500" b="1">
                <a:solidFill>
                  <a:srgbClr val="FFFFFF"/>
                </a:solidFill>
              </a:rPr>
              <a:t>Model Call</a:t>
            </a:r>
          </a:p>
        </p:txBody>
      </p:sp>
      <p:sp>
        <p:nvSpPr>
          <p:cNvPr id="14" name="Rounded Rectangle 13"/>
          <p:cNvSpPr/>
          <p:nvPr/>
        </p:nvSpPr>
        <p:spPr>
          <a:xfrm>
            <a:off x="5852160" y="3657600"/>
            <a:ext cx="2286000" cy="914400"/>
          </a:xfrm>
          <a:prstGeom prst="roundRect">
            <a:avLst>
              <a:gd name="adj" fmla="val 20000"/>
            </a:avLst>
          </a:prstGeom>
          <a:solidFill>
            <a:srgbClr val="107C4F"/>
          </a:solidFill>
          <a:ln w="1">
            <a:solidFill>
              <a:srgbClr val="107C4F"/>
            </a:solid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500" b="1">
                <a:solidFill>
                  <a:srgbClr val="FFFFFF"/>
                </a:solidFill>
              </a:rPr>
              <a:t>Store result</a:t>
            </a:r>
          </a:p>
        </p:txBody>
      </p:sp>
      <p:sp>
        <p:nvSpPr>
          <p:cNvPr id="15" name="TextBox 14"/>
          <p:cNvSpPr txBox="1"/>
          <p:nvPr/>
        </p:nvSpPr>
        <p:spPr>
          <a:xfrm>
            <a:off x="731520" y="5303520"/>
            <a:ext cx="10789920" cy="548640"/>
          </a:xfrm>
          <a:prstGeom prst="rect">
            <a:avLst/>
          </a:prstGeom>
          <a:noFill/>
        </p:spPr>
        <p:txBody>
          <a:bodyPr wrap="square">
            <a:spAutoFit/>
          </a:bodyPr>
          <a:lstStyle/>
          <a:p>
            <a:pPr algn="l"/>
            <a:r>
              <a:rPr sz="1500" b="0">
                <a:solidFill>
                  <a:srgbClr val="212529"/>
                </a:solidFill>
              </a:rPr>
              <a:t>User requests hit the API, while the worker independently polls for work and calls external AI services.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640080"/>
          </a:xfrm>
          <a:prstGeom prst="rect">
            <a:avLst/>
          </a:prstGeom>
          <a:noFill/>
        </p:spPr>
        <p:txBody>
          <a:bodyPr wrap="none">
            <a:spAutoFit/>
          </a:bodyPr>
          <a:lstStyle/>
          <a:p>
            <a:pPr algn="l"/>
            <a:r>
              <a:rPr sz="2800" b="1">
                <a:solidFill>
                  <a:srgbClr val="12284C"/>
                </a:solidFill>
              </a:rPr>
              <a:t>Security and Operations</a:t>
            </a:r>
          </a:p>
        </p:txBody>
      </p:sp>
      <p:sp>
        <p:nvSpPr>
          <p:cNvPr id="3" name="TextBox 2"/>
          <p:cNvSpPr txBox="1"/>
          <p:nvPr/>
        </p:nvSpPr>
        <p:spPr>
          <a:xfrm>
            <a:off x="548640" y="868680"/>
            <a:ext cx="9326880" cy="411480"/>
          </a:xfrm>
          <a:prstGeom prst="rect">
            <a:avLst/>
          </a:prstGeom>
          <a:noFill/>
        </p:spPr>
        <p:txBody>
          <a:bodyPr wrap="none">
            <a:spAutoFit/>
          </a:bodyPr>
          <a:lstStyle/>
          <a:p>
            <a:pPr algn="l"/>
            <a:r>
              <a:rPr sz="1200">
                <a:solidFill>
                  <a:srgbClr val="6F7A85"/>
                </a:solidFill>
              </a:rPr>
              <a:t>Pragmatic controls for a small shared environment</a:t>
            </a:r>
          </a:p>
        </p:txBody>
      </p:sp>
      <p:sp>
        <p:nvSpPr>
          <p:cNvPr id="4" name="Rounded Rectangle 3"/>
          <p:cNvSpPr/>
          <p:nvPr/>
        </p:nvSpPr>
        <p:spPr>
          <a:xfrm>
            <a:off x="731520" y="1737360"/>
            <a:ext cx="2103120" cy="1371600"/>
          </a:xfrm>
          <a:prstGeom prst="roundRect">
            <a:avLst>
              <a:gd name="adj" fmla="val 20000"/>
            </a:avLst>
          </a:prstGeom>
          <a:solidFill>
            <a:srgbClr val="1E88A8"/>
          </a:solidFill>
          <a:ln w="1">
            <a:solidFill>
              <a:srgbClr val="1E88A8"/>
            </a:solid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700" b="1">
                <a:solidFill>
                  <a:srgbClr val="FFFFFF"/>
                </a:solidFill>
              </a:rPr>
              <a:t>Shared password</a:t>
            </a:r>
            <a:br/>
            <a:r>
              <a:t>HTTP Basic auth</a:t>
            </a:r>
          </a:p>
        </p:txBody>
      </p:sp>
      <p:sp>
        <p:nvSpPr>
          <p:cNvPr id="5" name="Rounded Rectangle 4"/>
          <p:cNvSpPr/>
          <p:nvPr/>
        </p:nvSpPr>
        <p:spPr>
          <a:xfrm>
            <a:off x="3291840" y="1737360"/>
            <a:ext cx="2011680" cy="1371600"/>
          </a:xfrm>
          <a:prstGeom prst="roundRect">
            <a:avLst>
              <a:gd name="adj" fmla="val 20000"/>
            </a:avLst>
          </a:prstGeom>
          <a:solidFill>
            <a:srgbClr val="12284C"/>
          </a:solidFill>
          <a:ln w="1">
            <a:solidFill>
              <a:srgbClr val="12284C"/>
            </a:solid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700" b="1">
                <a:solidFill>
                  <a:srgbClr val="FFFFFF"/>
                </a:solidFill>
              </a:rPr>
              <a:t>Internal ingress</a:t>
            </a:r>
            <a:br/>
            <a:r>
              <a:t>(by default)</a:t>
            </a:r>
          </a:p>
        </p:txBody>
      </p:sp>
      <p:sp>
        <p:nvSpPr>
          <p:cNvPr id="6" name="Rounded Rectangle 5"/>
          <p:cNvSpPr/>
          <p:nvPr/>
        </p:nvSpPr>
        <p:spPr>
          <a:xfrm>
            <a:off x="5669280" y="1737360"/>
            <a:ext cx="2194560" cy="1371600"/>
          </a:xfrm>
          <a:prstGeom prst="roundRect">
            <a:avLst>
              <a:gd name="adj" fmla="val 20000"/>
            </a:avLst>
          </a:prstGeom>
          <a:solidFill>
            <a:srgbClr val="107C4F"/>
          </a:solidFill>
          <a:ln w="1">
            <a:solidFill>
              <a:srgbClr val="107C4F"/>
            </a:solid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500" b="1">
                <a:solidFill>
                  <a:srgbClr val="FFFFFF"/>
                </a:solidFill>
              </a:rPr>
              <a:t>Secrets stored in Azure Container Apps</a:t>
            </a:r>
          </a:p>
        </p:txBody>
      </p:sp>
      <p:sp>
        <p:nvSpPr>
          <p:cNvPr id="7" name="Rounded Rectangle 6"/>
          <p:cNvSpPr/>
          <p:nvPr/>
        </p:nvSpPr>
        <p:spPr>
          <a:xfrm>
            <a:off x="8321040" y="1737360"/>
            <a:ext cx="2743200" cy="1371600"/>
          </a:xfrm>
          <a:prstGeom prst="roundRect">
            <a:avLst>
              <a:gd name="adj" fmla="val 20000"/>
            </a:avLst>
          </a:prstGeom>
          <a:solidFill>
            <a:srgbClr val="6F7A85"/>
          </a:solidFill>
          <a:ln w="1">
            <a:solidFill>
              <a:srgbClr val="6F7A85"/>
            </a:solid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600" b="1">
                <a:solidFill>
                  <a:srgbClr val="FFFFFF"/>
                </a:solidFill>
              </a:rPr>
              <a:t>Log Analytics</a:t>
            </a:r>
            <a:br/>
            <a:r>
              <a:t>for runtime monitoring</a:t>
            </a:r>
          </a:p>
        </p:txBody>
      </p:sp>
      <p:sp>
        <p:nvSpPr>
          <p:cNvPr id="8" name="TextBox 7"/>
          <p:cNvSpPr txBox="1"/>
          <p:nvPr/>
        </p:nvSpPr>
        <p:spPr>
          <a:xfrm>
            <a:off x="731520" y="3749039"/>
            <a:ext cx="10607040" cy="1554480"/>
          </a:xfrm>
          <a:prstGeom prst="rect">
            <a:avLst/>
          </a:prstGeom>
          <a:noFill/>
        </p:spPr>
        <p:txBody>
          <a:bodyPr wrap="square">
            <a:spAutoFit/>
          </a:bodyPr>
          <a:lstStyle/>
          <a:p>
            <a:pPr algn="l"/>
            <a:r>
              <a:rPr sz="1800" b="0">
                <a:solidFill>
                  <a:srgbClr val="212529"/>
                </a:solidFill>
              </a:rPr>
              <a:t>The design prioritizes simplicity and safe-to-run defaults. Authentication is shared rather than user-specific, and the system intentionally avoids advanced identity and rate-limiting controls at this stage.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640080"/>
          </a:xfrm>
          <a:prstGeom prst="rect">
            <a:avLst/>
          </a:prstGeom>
          <a:noFill/>
        </p:spPr>
        <p:txBody>
          <a:bodyPr wrap="none">
            <a:spAutoFit/>
          </a:bodyPr>
          <a:lstStyle/>
          <a:p>
            <a:pPr algn="l"/>
            <a:r>
              <a:rPr sz="2800" b="1">
                <a:solidFill>
                  <a:srgbClr val="12284C"/>
                </a:solidFill>
              </a:rPr>
              <a:t>Release and Update Flow</a:t>
            </a:r>
          </a:p>
        </p:txBody>
      </p:sp>
      <p:sp>
        <p:nvSpPr>
          <p:cNvPr id="3" name="TextBox 2"/>
          <p:cNvSpPr txBox="1"/>
          <p:nvPr/>
        </p:nvSpPr>
        <p:spPr>
          <a:xfrm>
            <a:off x="548640" y="868680"/>
            <a:ext cx="9326880" cy="411480"/>
          </a:xfrm>
          <a:prstGeom prst="rect">
            <a:avLst/>
          </a:prstGeom>
          <a:noFill/>
        </p:spPr>
        <p:txBody>
          <a:bodyPr wrap="none">
            <a:spAutoFit/>
          </a:bodyPr>
          <a:lstStyle/>
          <a:p>
            <a:pPr algn="l"/>
            <a:r>
              <a:rPr sz="1200">
                <a:solidFill>
                  <a:srgbClr val="6F7A85"/>
                </a:solidFill>
              </a:rPr>
              <a:t>Deploy new versions without rebuilding the whole stack</a:t>
            </a:r>
          </a:p>
        </p:txBody>
      </p:sp>
      <p:sp>
        <p:nvSpPr>
          <p:cNvPr id="4" name="Rounded Rectangle 3"/>
          <p:cNvSpPr/>
          <p:nvPr/>
        </p:nvSpPr>
        <p:spPr>
          <a:xfrm>
            <a:off x="822960" y="1828800"/>
            <a:ext cx="1828800" cy="1005840"/>
          </a:xfrm>
          <a:prstGeom prst="roundRect">
            <a:avLst>
              <a:gd name="adj" fmla="val 20000"/>
            </a:avLst>
          </a:prstGeom>
          <a:solidFill>
            <a:srgbClr val="1E88A8"/>
          </a:solidFill>
          <a:ln w="1">
            <a:solidFill>
              <a:srgbClr val="1E88A8"/>
            </a:solid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600" b="1">
                <a:solidFill>
                  <a:srgbClr val="FFFFFF"/>
                </a:solidFill>
              </a:rPr>
              <a:t>Code change</a:t>
            </a:r>
          </a:p>
        </p:txBody>
      </p:sp>
      <p:sp>
        <p:nvSpPr>
          <p:cNvPr id="5" name="Rounded Rectangle 4"/>
          <p:cNvSpPr/>
          <p:nvPr/>
        </p:nvSpPr>
        <p:spPr>
          <a:xfrm>
            <a:off x="3108960" y="1828800"/>
            <a:ext cx="1828800" cy="1005840"/>
          </a:xfrm>
          <a:prstGeom prst="roundRect">
            <a:avLst>
              <a:gd name="adj" fmla="val 20000"/>
            </a:avLst>
          </a:prstGeom>
          <a:solidFill>
            <a:srgbClr val="12284C"/>
          </a:solidFill>
          <a:ln w="1">
            <a:solidFill>
              <a:srgbClr val="12284C"/>
            </a:solid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600" b="1">
                <a:solidFill>
                  <a:srgbClr val="FFFFFF"/>
                </a:solidFill>
              </a:rPr>
              <a:t>Build image</a:t>
            </a:r>
          </a:p>
        </p:txBody>
      </p:sp>
      <p:sp>
        <p:nvSpPr>
          <p:cNvPr id="6" name="Rounded Rectangle 5"/>
          <p:cNvSpPr/>
          <p:nvPr/>
        </p:nvSpPr>
        <p:spPr>
          <a:xfrm>
            <a:off x="5394960" y="1828800"/>
            <a:ext cx="2011680" cy="1005840"/>
          </a:xfrm>
          <a:prstGeom prst="roundRect">
            <a:avLst>
              <a:gd name="adj" fmla="val 20000"/>
            </a:avLst>
          </a:prstGeom>
          <a:solidFill>
            <a:srgbClr val="107C4F"/>
          </a:solidFill>
          <a:ln w="1">
            <a:solidFill>
              <a:srgbClr val="107C4F"/>
            </a:solid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500" b="1">
                <a:solidFill>
                  <a:srgbClr val="FFFFFF"/>
                </a:solidFill>
              </a:rPr>
              <a:t>Run migration</a:t>
            </a:r>
          </a:p>
        </p:txBody>
      </p:sp>
      <p:sp>
        <p:nvSpPr>
          <p:cNvPr id="7" name="Rounded Rectangle 6"/>
          <p:cNvSpPr/>
          <p:nvPr/>
        </p:nvSpPr>
        <p:spPr>
          <a:xfrm>
            <a:off x="7863840" y="1828800"/>
            <a:ext cx="1828800" cy="1005840"/>
          </a:xfrm>
          <a:prstGeom prst="roundRect">
            <a:avLst>
              <a:gd name="adj" fmla="val 20000"/>
            </a:avLst>
          </a:prstGeom>
          <a:solidFill>
            <a:srgbClr val="F59E0B"/>
          </a:solidFill>
          <a:ln w="1">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600" b="1">
                <a:solidFill>
                  <a:srgbClr val="FFFFFF"/>
                </a:solidFill>
              </a:rPr>
              <a:t>Update app</a:t>
            </a:r>
          </a:p>
        </p:txBody>
      </p:sp>
      <p:sp>
        <p:nvSpPr>
          <p:cNvPr id="8" name="Rounded Rectangle 7"/>
          <p:cNvSpPr/>
          <p:nvPr/>
        </p:nvSpPr>
        <p:spPr>
          <a:xfrm>
            <a:off x="10149840" y="1828800"/>
            <a:ext cx="1097280" cy="1005840"/>
          </a:xfrm>
          <a:prstGeom prst="roundRect">
            <a:avLst>
              <a:gd name="adj" fmla="val 20000"/>
            </a:avLst>
          </a:prstGeom>
          <a:solidFill>
            <a:srgbClr val="6F7A85"/>
          </a:solidFill>
          <a:ln w="1">
            <a:solidFill>
              <a:srgbClr val="6F7A85"/>
            </a:solid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500" b="1">
                <a:solidFill>
                  <a:srgbClr val="FFFFFF"/>
                </a:solidFill>
              </a:rPr>
              <a:t>Live</a:t>
            </a:r>
          </a:p>
        </p:txBody>
      </p:sp>
      <p:cxnSp>
        <p:nvCxnSpPr>
          <p:cNvPr id="9" name="Connector 8"/>
          <p:cNvCxnSpPr/>
          <p:nvPr/>
        </p:nvCxnSpPr>
        <p:spPr>
          <a:xfrm>
            <a:off x="2651760" y="2331720"/>
            <a:ext cx="457200" cy="0"/>
          </a:xfrm>
          <a:prstGeom prst="line">
            <a:avLst/>
          </a:prstGeom>
          <a:ln w="2">
            <a:solidFill>
              <a:srgbClr val="6F7A85"/>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937760" y="2331720"/>
            <a:ext cx="457200" cy="0"/>
          </a:xfrm>
          <a:prstGeom prst="line">
            <a:avLst/>
          </a:prstGeom>
          <a:ln w="2">
            <a:solidFill>
              <a:srgbClr val="6F7A85"/>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406640" y="2331720"/>
            <a:ext cx="457200" cy="0"/>
          </a:xfrm>
          <a:prstGeom prst="line">
            <a:avLst/>
          </a:prstGeom>
          <a:ln w="2">
            <a:solidFill>
              <a:srgbClr val="6F7A85"/>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692640" y="2331720"/>
            <a:ext cx="457200" cy="0"/>
          </a:xfrm>
          <a:prstGeom prst="line">
            <a:avLst/>
          </a:prstGeom>
          <a:ln w="2">
            <a:solidFill>
              <a:srgbClr val="6F7A85"/>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822960" y="3840480"/>
            <a:ext cx="10607040" cy="1371600"/>
          </a:xfrm>
          <a:prstGeom prst="rect">
            <a:avLst/>
          </a:prstGeom>
          <a:noFill/>
        </p:spPr>
        <p:txBody>
          <a:bodyPr wrap="square">
            <a:spAutoFit/>
          </a:bodyPr>
          <a:lstStyle/>
          <a:p>
            <a:pPr algn="l"/>
            <a:r>
              <a:rPr sz="1700" b="0">
                <a:solidFill>
                  <a:srgbClr val="212529"/>
                </a:solidFill>
              </a:rPr>
              <a:t>The update process keeps the database, attachments, password, and API key in place. If the migration fails, the system can continue to run the prior application version while the issue is investigated.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640080"/>
          </a:xfrm>
          <a:prstGeom prst="rect">
            <a:avLst/>
          </a:prstGeom>
          <a:noFill/>
        </p:spPr>
        <p:txBody>
          <a:bodyPr wrap="none">
            <a:spAutoFit/>
          </a:bodyPr>
          <a:lstStyle/>
          <a:p>
            <a:pPr algn="l"/>
            <a:r>
              <a:rPr sz="2800" b="1">
                <a:solidFill>
                  <a:srgbClr val="12284C"/>
                </a:solidFill>
              </a:rPr>
              <a:t>Strengths</a:t>
            </a:r>
          </a:p>
        </p:txBody>
      </p:sp>
      <p:sp>
        <p:nvSpPr>
          <p:cNvPr id="3" name="TextBox 2"/>
          <p:cNvSpPr txBox="1"/>
          <p:nvPr/>
        </p:nvSpPr>
        <p:spPr>
          <a:xfrm>
            <a:off x="548640" y="868680"/>
            <a:ext cx="9326880" cy="411480"/>
          </a:xfrm>
          <a:prstGeom prst="rect">
            <a:avLst/>
          </a:prstGeom>
          <a:noFill/>
        </p:spPr>
        <p:txBody>
          <a:bodyPr wrap="none">
            <a:spAutoFit/>
          </a:bodyPr>
          <a:lstStyle/>
          <a:p>
            <a:pPr algn="l"/>
            <a:r>
              <a:rPr sz="1200">
                <a:solidFill>
                  <a:srgbClr val="6F7A85"/>
                </a:solidFill>
              </a:rPr>
              <a:t>Why this model is effective for early deployment</a:t>
            </a:r>
          </a:p>
        </p:txBody>
      </p:sp>
      <p:sp>
        <p:nvSpPr>
          <p:cNvPr id="4" name="Rounded Rectangle 3"/>
          <p:cNvSpPr/>
          <p:nvPr/>
        </p:nvSpPr>
        <p:spPr>
          <a:xfrm>
            <a:off x="822960" y="1737360"/>
            <a:ext cx="1828800" cy="1463040"/>
          </a:xfrm>
          <a:prstGeom prst="roundRect">
            <a:avLst>
              <a:gd name="adj" fmla="val 20000"/>
            </a:avLst>
          </a:prstGeom>
          <a:solidFill>
            <a:srgbClr val="12284C"/>
          </a:solidFill>
          <a:ln w="1">
            <a:solidFill>
              <a:srgbClr val="12284C"/>
            </a:solid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700" b="1">
                <a:solidFill>
                  <a:srgbClr val="FFFFFF"/>
                </a:solidFill>
              </a:rPr>
              <a:t>Fast to deploy</a:t>
            </a:r>
          </a:p>
        </p:txBody>
      </p:sp>
      <p:sp>
        <p:nvSpPr>
          <p:cNvPr id="5" name="Rounded Rectangle 4"/>
          <p:cNvSpPr/>
          <p:nvPr/>
        </p:nvSpPr>
        <p:spPr>
          <a:xfrm>
            <a:off x="3291840" y="1737360"/>
            <a:ext cx="1828800" cy="1463040"/>
          </a:xfrm>
          <a:prstGeom prst="roundRect">
            <a:avLst>
              <a:gd name="adj" fmla="val 20000"/>
            </a:avLst>
          </a:prstGeom>
          <a:solidFill>
            <a:srgbClr val="1E88A8"/>
          </a:solidFill>
          <a:ln w="1">
            <a:solidFill>
              <a:srgbClr val="1E88A8"/>
            </a:solid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700" b="1">
                <a:solidFill>
                  <a:srgbClr val="FFFFFF"/>
                </a:solidFill>
              </a:rPr>
              <a:t>Easy to operate</a:t>
            </a:r>
          </a:p>
        </p:txBody>
      </p:sp>
      <p:sp>
        <p:nvSpPr>
          <p:cNvPr id="6" name="Rounded Rectangle 5"/>
          <p:cNvSpPr/>
          <p:nvPr/>
        </p:nvSpPr>
        <p:spPr>
          <a:xfrm>
            <a:off x="5760720" y="1737360"/>
            <a:ext cx="1828800" cy="1463040"/>
          </a:xfrm>
          <a:prstGeom prst="roundRect">
            <a:avLst>
              <a:gd name="adj" fmla="val 20000"/>
            </a:avLst>
          </a:prstGeom>
          <a:solidFill>
            <a:srgbClr val="107C4F"/>
          </a:solidFill>
          <a:ln w="1">
            <a:solidFill>
              <a:srgbClr val="107C4F"/>
            </a:solid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700" b="1">
                <a:solidFill>
                  <a:srgbClr val="FFFFFF"/>
                </a:solidFill>
              </a:rPr>
              <a:t>Low maintenance</a:t>
            </a:r>
          </a:p>
        </p:txBody>
      </p:sp>
      <p:sp>
        <p:nvSpPr>
          <p:cNvPr id="7" name="Rounded Rectangle 6"/>
          <p:cNvSpPr/>
          <p:nvPr/>
        </p:nvSpPr>
        <p:spPr>
          <a:xfrm>
            <a:off x="8229600" y="1737360"/>
            <a:ext cx="1828800" cy="1463040"/>
          </a:xfrm>
          <a:prstGeom prst="roundRect">
            <a:avLst>
              <a:gd name="adj" fmla="val 20000"/>
            </a:avLst>
          </a:prstGeom>
          <a:solidFill>
            <a:srgbClr val="F59E0B"/>
          </a:solidFill>
          <a:ln w="1">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700" b="1">
                <a:solidFill>
                  <a:srgbClr val="FFFFFF"/>
                </a:solidFill>
              </a:rPr>
              <a:t>Simple updates</a:t>
            </a:r>
          </a:p>
        </p:txBody>
      </p:sp>
      <p:sp>
        <p:nvSpPr>
          <p:cNvPr id="8" name="Rounded Rectangle 7"/>
          <p:cNvSpPr/>
          <p:nvPr/>
        </p:nvSpPr>
        <p:spPr>
          <a:xfrm>
            <a:off x="10698480" y="1737360"/>
            <a:ext cx="914400" cy="1463040"/>
          </a:xfrm>
          <a:prstGeom prst="roundRect">
            <a:avLst>
              <a:gd name="adj" fmla="val 20000"/>
            </a:avLst>
          </a:prstGeom>
          <a:solidFill>
            <a:srgbClr val="6F7A85"/>
          </a:solidFill>
          <a:ln w="1">
            <a:solidFill>
              <a:srgbClr val="6F7A85"/>
            </a:solid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300" b="1">
                <a:solidFill>
                  <a:srgbClr val="FFFFFF"/>
                </a:solidFill>
              </a:rPr>
              <a:t>Fits small teams</a:t>
            </a:r>
          </a:p>
        </p:txBody>
      </p:sp>
      <p:sp>
        <p:nvSpPr>
          <p:cNvPr id="9" name="TextBox 8"/>
          <p:cNvSpPr txBox="1"/>
          <p:nvPr/>
        </p:nvSpPr>
        <p:spPr>
          <a:xfrm>
            <a:off x="822960" y="3931920"/>
            <a:ext cx="10607040" cy="1188720"/>
          </a:xfrm>
          <a:prstGeom prst="rect">
            <a:avLst/>
          </a:prstGeom>
          <a:noFill/>
        </p:spPr>
        <p:txBody>
          <a:bodyPr wrap="square">
            <a:spAutoFit/>
          </a:bodyPr>
          <a:lstStyle/>
          <a:p>
            <a:pPr algn="l"/>
            <a:r>
              <a:rPr sz="1800" b="0">
                <a:solidFill>
                  <a:srgbClr val="212529"/>
                </a:solidFill>
              </a:rPr>
              <a:t>This architecture is intentionally lightweight. It reduces complexity and helps testers and early adopters get the system running quickly without a heavy production platform footprint.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0972800" cy="640080"/>
          </a:xfrm>
          <a:prstGeom prst="rect">
            <a:avLst/>
          </a:prstGeom>
          <a:noFill/>
        </p:spPr>
        <p:txBody>
          <a:bodyPr wrap="none">
            <a:spAutoFit/>
          </a:bodyPr>
          <a:lstStyle/>
          <a:p>
            <a:pPr algn="l"/>
            <a:r>
              <a:rPr sz="2800" b="1">
                <a:solidFill>
                  <a:srgbClr val="12284C"/>
                </a:solidFill>
              </a:rPr>
              <a:t>Key Risks and Next Steps</a:t>
            </a:r>
          </a:p>
        </p:txBody>
      </p:sp>
      <p:sp>
        <p:nvSpPr>
          <p:cNvPr id="3" name="TextBox 2"/>
          <p:cNvSpPr txBox="1"/>
          <p:nvPr/>
        </p:nvSpPr>
        <p:spPr>
          <a:xfrm>
            <a:off x="548640" y="868680"/>
            <a:ext cx="9326880" cy="411480"/>
          </a:xfrm>
          <a:prstGeom prst="rect">
            <a:avLst/>
          </a:prstGeom>
          <a:noFill/>
        </p:spPr>
        <p:txBody>
          <a:bodyPr wrap="none">
            <a:spAutoFit/>
          </a:bodyPr>
          <a:lstStyle/>
          <a:p>
            <a:pPr algn="l"/>
            <a:r>
              <a:rPr sz="1200">
                <a:solidFill>
                  <a:srgbClr val="6F7A85"/>
                </a:solidFill>
              </a:rPr>
              <a:t>What still needs attention before broader use</a:t>
            </a:r>
          </a:p>
        </p:txBody>
      </p:sp>
      <p:sp>
        <p:nvSpPr>
          <p:cNvPr id="4" name="Rounded Rectangle 3"/>
          <p:cNvSpPr/>
          <p:nvPr/>
        </p:nvSpPr>
        <p:spPr>
          <a:xfrm>
            <a:off x="731520" y="1645920"/>
            <a:ext cx="1920240" cy="1645920"/>
          </a:xfrm>
          <a:prstGeom prst="roundRect">
            <a:avLst>
              <a:gd name="adj" fmla="val 20000"/>
            </a:avLst>
          </a:prstGeom>
          <a:solidFill>
            <a:srgbClr val="B32D2D"/>
          </a:solidFill>
          <a:ln w="1">
            <a:solidFill>
              <a:srgbClr val="B32D2D"/>
            </a:solid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600" b="1">
                <a:solidFill>
                  <a:srgbClr val="FFFFFF"/>
                </a:solidFill>
              </a:rPr>
              <a:t>Shared password</a:t>
            </a:r>
            <a:br/>
            <a:r>
              <a:t>limits accountability</a:t>
            </a:r>
          </a:p>
        </p:txBody>
      </p:sp>
      <p:sp>
        <p:nvSpPr>
          <p:cNvPr id="5" name="Rounded Rectangle 4"/>
          <p:cNvSpPr/>
          <p:nvPr/>
        </p:nvSpPr>
        <p:spPr>
          <a:xfrm>
            <a:off x="3108960" y="1645920"/>
            <a:ext cx="2011680" cy="1645920"/>
          </a:xfrm>
          <a:prstGeom prst="roundRect">
            <a:avLst>
              <a:gd name="adj" fmla="val 20000"/>
            </a:avLst>
          </a:prstGeom>
          <a:solidFill>
            <a:srgbClr val="B32D2D"/>
          </a:solidFill>
          <a:ln w="1">
            <a:solidFill>
              <a:srgbClr val="B32D2D"/>
            </a:solid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600" b="1">
                <a:solidFill>
                  <a:srgbClr val="FFFFFF"/>
                </a:solidFill>
              </a:rPr>
              <a:t>No user-level identity</a:t>
            </a:r>
          </a:p>
        </p:txBody>
      </p:sp>
      <p:sp>
        <p:nvSpPr>
          <p:cNvPr id="6" name="Rounded Rectangle 5"/>
          <p:cNvSpPr/>
          <p:nvPr/>
        </p:nvSpPr>
        <p:spPr>
          <a:xfrm>
            <a:off x="5486400" y="1645920"/>
            <a:ext cx="1920240" cy="1645920"/>
          </a:xfrm>
          <a:prstGeom prst="roundRect">
            <a:avLst>
              <a:gd name="adj" fmla="val 20000"/>
            </a:avLst>
          </a:prstGeom>
          <a:solidFill>
            <a:srgbClr val="F59E0B"/>
          </a:solidFill>
          <a:ln w="1">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600" b="1">
                <a:solidFill>
                  <a:srgbClr val="FFFFFF"/>
                </a:solidFill>
              </a:rPr>
              <a:t>No rate limiting</a:t>
            </a:r>
          </a:p>
        </p:txBody>
      </p:sp>
      <p:sp>
        <p:nvSpPr>
          <p:cNvPr id="7" name="Rounded Rectangle 6"/>
          <p:cNvSpPr/>
          <p:nvPr/>
        </p:nvSpPr>
        <p:spPr>
          <a:xfrm>
            <a:off x="7955279" y="1645920"/>
            <a:ext cx="1828800" cy="1645920"/>
          </a:xfrm>
          <a:prstGeom prst="roundRect">
            <a:avLst>
              <a:gd name="adj" fmla="val 20000"/>
            </a:avLst>
          </a:prstGeom>
          <a:solidFill>
            <a:srgbClr val="F59E0B"/>
          </a:solidFill>
          <a:ln w="1">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600" b="1">
                <a:solidFill>
                  <a:srgbClr val="FFFFFF"/>
                </a:solidFill>
              </a:rPr>
              <a:t>No backup strategy yet</a:t>
            </a:r>
          </a:p>
        </p:txBody>
      </p:sp>
      <p:sp>
        <p:nvSpPr>
          <p:cNvPr id="8" name="Rounded Rectangle 7"/>
          <p:cNvSpPr/>
          <p:nvPr/>
        </p:nvSpPr>
        <p:spPr>
          <a:xfrm>
            <a:off x="10058400" y="1645920"/>
            <a:ext cx="1371600" cy="1645920"/>
          </a:xfrm>
          <a:prstGeom prst="roundRect">
            <a:avLst>
              <a:gd name="adj" fmla="val 20000"/>
            </a:avLst>
          </a:prstGeom>
          <a:solidFill>
            <a:srgbClr val="12284C"/>
          </a:solidFill>
          <a:ln w="1">
            <a:solidFill>
              <a:srgbClr val="12284C"/>
            </a:solid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300" b="1">
                <a:solidFill>
                  <a:srgbClr val="FFFFFF"/>
                </a:solidFill>
              </a:rPr>
              <a:t>Validate base image permissions</a:t>
            </a:r>
          </a:p>
        </p:txBody>
      </p:sp>
      <p:sp>
        <p:nvSpPr>
          <p:cNvPr id="9" name="TextBox 8"/>
          <p:cNvSpPr txBox="1"/>
          <p:nvPr/>
        </p:nvSpPr>
        <p:spPr>
          <a:xfrm>
            <a:off x="731520" y="4023360"/>
            <a:ext cx="10241280" cy="1371600"/>
          </a:xfrm>
          <a:prstGeom prst="rect">
            <a:avLst/>
          </a:prstGeom>
          <a:noFill/>
        </p:spPr>
        <p:txBody>
          <a:bodyPr wrap="square">
            <a:spAutoFit/>
          </a:bodyPr>
          <a:lstStyle/>
          <a:p>
            <a:pPr algn="l"/>
            <a:r>
              <a:rPr sz="1700" b="0">
                <a:solidFill>
                  <a:srgbClr val="212529"/>
                </a:solidFill>
              </a:rPr>
              <a:t>For broader production use, the next priorities are identity, auditing, rate limiting, and validated storage permissions. The current model is suitable for a pilot or tester environment.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