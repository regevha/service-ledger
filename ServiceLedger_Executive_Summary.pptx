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84C"/>
                </a:solidFill>
              </a:rPr>
              <a:t>ServiceLedger 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F7A85"/>
                </a:solidFill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108960"/>
            <a:ext cx="2194560" cy="1463040"/>
          </a:xfrm>
          <a:prstGeom prst="roundRect">
            <a:avLst>
              <a:gd name="adj" fmla="val 20000"/>
            </a:avLst>
          </a:prstGeom>
          <a:solidFill>
            <a:srgbClr val="1E88A8"/>
          </a:solidFill>
          <a:ln w="1">
            <a:solidFill>
              <a:srgbClr val="1E8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API</a:t>
            </a:r>
            <a:br/>
            <a:r>
              <a:t>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108960"/>
            <a:ext cx="2560320" cy="14630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</a:rPr>
              <a:t>Worker</a:t>
            </a:r>
            <a:br/>
            <a:r>
              <a:t>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108960"/>
            <a:ext cx="2377440" cy="1463040"/>
          </a:xfrm>
          <a:prstGeom prst="roundRect">
            <a:avLst>
              <a:gd name="adj" fmla="val 20000"/>
            </a:avLst>
          </a:prstGeom>
          <a:solidFill>
            <a:srgbClr val="107C4F"/>
          </a:solidFill>
          <a:ln w="1">
            <a:solidFill>
              <a:srgbClr val="107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108960"/>
            <a:ext cx="1828800" cy="1463040"/>
          </a:xfrm>
          <a:prstGeom prst="roundRect">
            <a:avLst>
              <a:gd name="adj" fmla="val 20000"/>
            </a:avLst>
          </a:prstGeom>
          <a:solidFill>
            <a:srgbClr val="12284C"/>
          </a:solidFill>
          <a:ln w="1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Azure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529"/>
                </a:solidFill>
              </a:rPr>
              <a:t>A lightweight Azure deployment designed for a small test environment, built around a simple API, worker, database, and shared storage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84C"/>
                </a:solidFill>
              </a:rPr>
              <a:t>One-page Architecture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F7A85"/>
                </a:solidFill>
              </a:rPr>
              <a:t>Core components and interaction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828800" cy="1005840"/>
          </a:xfrm>
          <a:prstGeom prst="roundRect">
            <a:avLst>
              <a:gd name="adj" fmla="val 20000"/>
            </a:avLst>
          </a:prstGeom>
          <a:solidFill>
            <a:srgbClr val="12284C"/>
          </a:solidFill>
          <a:ln w="1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2194560" cy="1371600"/>
          </a:xfrm>
          <a:prstGeom prst="roundRect">
            <a:avLst>
              <a:gd name="adj" fmla="val 20000"/>
            </a:avLst>
          </a:prstGeom>
          <a:solidFill>
            <a:srgbClr val="1E88A8"/>
          </a:solidFill>
          <a:ln w="1">
            <a:solidFill>
              <a:srgbClr val="1E8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API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554480"/>
            <a:ext cx="2103120" cy="1371600"/>
          </a:xfrm>
          <a:prstGeom prst="roundRect">
            <a:avLst>
              <a:gd name="adj" fmla="val 20000"/>
            </a:avLst>
          </a:prstGeom>
          <a:solidFill>
            <a:srgbClr val="107C4F"/>
          </a:solidFill>
          <a:ln w="1">
            <a:solidFill>
              <a:srgbClr val="107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554480"/>
            <a:ext cx="2560320" cy="1371600"/>
          </a:xfrm>
          <a:prstGeom prst="roundRect">
            <a:avLst>
              <a:gd name="adj" fmla="val 20000"/>
            </a:avLst>
          </a:prstGeom>
          <a:solidFill>
            <a:srgbClr val="12284C"/>
          </a:solidFill>
          <a:ln w="1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Azure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657600"/>
            <a:ext cx="2286000" cy="10972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Worker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2377440" cy="1097280"/>
          </a:xfrm>
          <a:prstGeom prst="roundRect">
            <a:avLst>
              <a:gd name="adj" fmla="val 20000"/>
            </a:avLst>
          </a:prstGeom>
          <a:solidFill>
            <a:srgbClr val="B32D2D"/>
          </a:solidFill>
          <a:ln w="1">
            <a:solidFill>
              <a:srgbClr val="B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Claude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103120"/>
            <a:ext cx="274320" cy="0"/>
          </a:xfrm>
          <a:prstGeom prst="line">
            <a:avLst/>
          </a:prstGeom>
          <a:ln w="2">
            <a:solidFill>
              <a:srgbClr val="6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2103120"/>
            <a:ext cx="640080" cy="0"/>
          </a:xfrm>
          <a:prstGeom prst="line">
            <a:avLst/>
          </a:prstGeom>
          <a:ln w="2">
            <a:solidFill>
              <a:srgbClr val="6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2103120"/>
            <a:ext cx="640080" cy="0"/>
          </a:xfrm>
          <a:prstGeom prst="line">
            <a:avLst/>
          </a:prstGeom>
          <a:ln w="2">
            <a:solidFill>
              <a:srgbClr val="6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06240" y="2926080"/>
            <a:ext cx="0" cy="731520"/>
          </a:xfrm>
          <a:prstGeom prst="line">
            <a:avLst/>
          </a:prstGeom>
          <a:ln w="2">
            <a:solidFill>
              <a:srgbClr val="6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4206240"/>
            <a:ext cx="457200" cy="0"/>
          </a:xfrm>
          <a:prstGeom prst="line">
            <a:avLst/>
          </a:prstGeom>
          <a:ln w="2">
            <a:solidFill>
              <a:srgbClr val="6F7A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3035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</a:rPr>
              <a:t>Users interact with the API, while the worker performs background processing and model calls in parallel.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84C"/>
                </a:solidFill>
              </a:rPr>
              <a:t>Why this architecture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F7A85"/>
                </a:solidFill>
              </a:rPr>
              <a:t>Benefits for early-stage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645920" cy="2011680"/>
          </a:xfrm>
          <a:prstGeom prst="roundRect">
            <a:avLst>
              <a:gd name="adj" fmla="val 20000"/>
            </a:avLst>
          </a:prstGeom>
          <a:solidFill>
            <a:srgbClr val="1E88A8"/>
          </a:solidFill>
          <a:ln w="1">
            <a:solidFill>
              <a:srgbClr val="1E8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Fast to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920240"/>
            <a:ext cx="1645920" cy="2011680"/>
          </a:xfrm>
          <a:prstGeom prst="roundRect">
            <a:avLst>
              <a:gd name="adj" fmla="val 20000"/>
            </a:avLst>
          </a:prstGeom>
          <a:solidFill>
            <a:srgbClr val="12284C"/>
          </a:solidFill>
          <a:ln w="1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Easy to operate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1645920" cy="2011680"/>
          </a:xfrm>
          <a:prstGeom prst="roundRect">
            <a:avLst>
              <a:gd name="adj" fmla="val 20000"/>
            </a:avLst>
          </a:prstGeom>
          <a:solidFill>
            <a:srgbClr val="107C4F"/>
          </a:solidFill>
          <a:ln w="1">
            <a:solidFill>
              <a:srgbClr val="107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Low 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920240"/>
            <a:ext cx="1645920" cy="201168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Simple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920240"/>
            <a:ext cx="1645920" cy="2011680"/>
          </a:xfrm>
          <a:prstGeom prst="roundRect">
            <a:avLst>
              <a:gd name="adj" fmla="val 20000"/>
            </a:avLst>
          </a:prstGeom>
          <a:solidFill>
            <a:srgbClr val="6F7A85"/>
          </a:solidFill>
          <a:ln w="1">
            <a:solidFill>
              <a:srgbClr val="6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Good for pilot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529"/>
                </a:solidFill>
              </a:rPr>
              <a:t>This design intentionally favors clarity, speed, and low overhead over advanced enterprise controls, which is appropriate for small test or pilot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84C"/>
                </a:solidFill>
              </a:rP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F7A85"/>
                </a:solidFill>
              </a:rPr>
              <a:t>What the deployment emphasizes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1645920"/>
          </a:xfrm>
          <a:prstGeom prst="roundRect">
            <a:avLst>
              <a:gd name="adj" fmla="val 20000"/>
            </a:avLst>
          </a:prstGeom>
          <a:solidFill>
            <a:srgbClr val="12284C"/>
          </a:solidFill>
          <a:ln w="1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Single resource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286000" cy="1645920"/>
          </a:xfrm>
          <a:prstGeom prst="roundRect">
            <a:avLst>
              <a:gd name="adj" fmla="val 20000"/>
            </a:avLst>
          </a:prstGeom>
          <a:solidFill>
            <a:srgbClr val="1E88A8"/>
          </a:solidFill>
          <a:ln w="1">
            <a:solidFill>
              <a:srgbClr val="1E8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Azure Files for attachments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2286000" cy="1645920"/>
          </a:xfrm>
          <a:prstGeom prst="roundRect">
            <a:avLst>
              <a:gd name="adj" fmla="val 20000"/>
            </a:avLst>
          </a:prstGeom>
          <a:solidFill>
            <a:srgbClr val="107C4F"/>
          </a:solidFill>
          <a:ln w="1">
            <a:solidFill>
              <a:srgbClr val="107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PostgreSQL for application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560320" cy="1645920"/>
          </a:xfrm>
          <a:prstGeom prst="roundRect">
            <a:avLst>
              <a:gd name="adj" fmla="val 20000"/>
            </a:avLst>
          </a:prstGeom>
          <a:solidFill>
            <a:srgbClr val="6F7A85"/>
          </a:solidFill>
          <a:ln w="1">
            <a:solidFill>
              <a:srgbClr val="6F7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Secrets in Container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</a:rPr>
              <a:t>The platform keeps the environment compact and operationally simple while preserving the core app responsibilities for data storage, file access, workload processing, and deployment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84C"/>
                </a:solidFill>
              </a:rP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F7A85"/>
                </a:solidFill>
              </a:rPr>
              <a:t>Practical foundation for early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017520" cy="2286000"/>
          </a:xfrm>
          <a:prstGeom prst="roundRect">
            <a:avLst>
              <a:gd name="adj" fmla="val 20000"/>
            </a:avLst>
          </a:prstGeom>
          <a:solidFill>
            <a:srgbClr val="12284C"/>
          </a:solidFill>
          <a:ln w="1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Strong fit for</a:t>
            </a:r>
            <a:br/>
            <a:r>
              <a:t>internal pilot</a:t>
            </a:r>
            <a:br/>
            <a:r>
              <a:t>and early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2834640" cy="2286000"/>
          </a:xfrm>
          <a:prstGeom prst="roundRect">
            <a:avLst>
              <a:gd name="adj" fmla="val 20000"/>
            </a:avLst>
          </a:prstGeom>
          <a:solidFill>
            <a:srgbClr val="1E88A8"/>
          </a:solidFill>
          <a:ln w="1">
            <a:solidFill>
              <a:srgbClr val="1E8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Simple setup</a:t>
            </a:r>
            <a:br/>
            <a:r>
              <a:t>with manageable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108960" cy="2286000"/>
          </a:xfrm>
          <a:prstGeom prst="roundRect">
            <a:avLst>
              <a:gd name="adj" fmla="val 20000"/>
            </a:avLst>
          </a:prstGeom>
          <a:solidFill>
            <a:srgbClr val="B32D2D"/>
          </a:solidFill>
          <a:ln w="1">
            <a:solidFill>
              <a:srgbClr val="B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Needs stronger identity, rate limiting, and backup controls before broad production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</a:rPr>
              <a:t>This architecture is a solid early deployment model: it is pragmatic, easy to run, and easy to evolve — but it still needs governance and security upgrades to reach a broader production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